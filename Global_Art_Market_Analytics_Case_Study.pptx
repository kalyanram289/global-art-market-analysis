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42424"/>
                </a:solidFill>
                <a:latin typeface="Aptos Display"/>
              </a:defRPr>
            </a:pPr>
            <a:r>
              <a:t>Global Art Market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30632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66666"/>
                </a:solidFill>
                <a:latin typeface="Aptos"/>
              </a:defRPr>
            </a:pPr>
            <a:r>
              <a:t>A simple look at artwork valuations, market segments and estimate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Global Art Market Analytics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2424"/>
                </a:solidFill>
                <a:latin typeface="Aptos Display"/>
              </a:defRPr>
            </a:pPr>
            <a:r>
              <a:t>What I wanted to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What factors are associated with higher recorded artwork prices?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How do prices differ across countries, genres and artist tiers?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How closely do recorded prices align with pre-sale estimates?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How do artwork prices change over time?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Global Art Market Analytics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2424"/>
                </a:solidFill>
                <a:latin typeface="Aptos Display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2424"/>
                </a:solidFill>
                <a:latin typeface="Aptos Display"/>
              </a:defRPr>
            </a:pPr>
            <a:r>
              <a:t>34,200</a:t>
            </a:r>
          </a:p>
          <a:p>
            <a:pPr algn="ctr">
              <a:defRPr sz="1100">
                <a:solidFill>
                  <a:srgbClr val="666666"/>
                </a:solidFill>
                <a:latin typeface="Aptos"/>
              </a:defRPr>
            </a:pPr>
            <a:r>
              <a:t>Artwork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15544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2424"/>
                </a:solidFill>
                <a:latin typeface="Aptos Display"/>
              </a:defRPr>
            </a:pPr>
            <a:r>
              <a:t>$17,691</a:t>
            </a:r>
          </a:p>
          <a:p>
            <a:pPr algn="ctr">
              <a:defRPr sz="1100">
                <a:solidFill>
                  <a:srgbClr val="666666"/>
                </a:solidFill>
                <a:latin typeface="Aptos"/>
              </a:defRPr>
            </a:pPr>
            <a:r>
              <a:t>Median recorded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5544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2424"/>
                </a:solidFill>
                <a:latin typeface="Aptos Display"/>
              </a:defRPr>
            </a:pPr>
            <a:r>
              <a:t>43.1%</a:t>
            </a:r>
          </a:p>
          <a:p>
            <a:pPr algn="ctr">
              <a:defRPr sz="1100">
                <a:solidFill>
                  <a:srgbClr val="666666"/>
                </a:solidFill>
                <a:latin typeface="Aptos"/>
              </a:defRPr>
            </a:pPr>
            <a:r>
              <a:t>Above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50">
                <a:solidFill>
                  <a:srgbClr val="242424"/>
                </a:solidFill>
                <a:latin typeface="Aptos"/>
              </a:defRPr>
            </a:pPr>
            <a:r>
              <a:t>• Recorded prices vary considerably across artist tiers, genres and market segments.</a:t>
            </a:r>
          </a:p>
          <a:p>
            <a:pPr>
              <a:spcAft>
                <a:spcPts val="1400"/>
              </a:spcAft>
              <a:defRPr sz="1650">
                <a:solidFill>
                  <a:srgbClr val="242424"/>
                </a:solidFill>
                <a:latin typeface="Aptos"/>
              </a:defRPr>
            </a:pPr>
            <a:r>
              <a:t>• Median price is used as the main price measure because a small number of very high-priced works can pull the mean upward.</a:t>
            </a:r>
          </a:p>
          <a:p>
            <a:pPr>
              <a:spcAft>
                <a:spcPts val="1400"/>
              </a:spcAft>
              <a:defRPr sz="1650">
                <a:solidFill>
                  <a:srgbClr val="242424"/>
                </a:solidFill>
                <a:latin typeface="Aptos"/>
              </a:defRPr>
            </a:pPr>
            <a:r>
              <a:t>• 34,200 artwork records were analyzed.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Global Art Market Analytics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2424"/>
                </a:solidFill>
                <a:latin typeface="Aptos Display"/>
              </a:defRPr>
            </a:pPr>
            <a:r>
              <a:t>What stands out across market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Artist tier is strongly associated with typical recorded price. Tier 1 has a median of $27,500 versus $7,443 for Tier 4.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Pricing also differs by genre. Photography has the highest median recorded price in this dataset at $46,398.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Country-level prices vary as well, although sample sizes differ substantially between countries.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These patterns suggest that market positioning and segment characteristics matter when benchmarking artwork valuations.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Global Art Market Analytics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2424"/>
                </a:solidFill>
                <a:latin typeface="Aptos Display"/>
              </a:defRPr>
            </a:pPr>
            <a:r>
              <a:t>Estimate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43.1% of recorded prices were above the stated estimate range.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41.0% were within the estimate range and 15.9% were below it.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The median recorded price was about 1.09× the estimate midpoint.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Pre-sale estimates are useful benchmarks, but recorded prices can move meaningfully away from expectations.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Global Art Market Analytics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2424"/>
                </a:solidFill>
                <a:latin typeface="Aptos Display"/>
              </a:defRPr>
            </a:pPr>
            <a:r>
              <a:t>Artwork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Artwork size has a moderate positive relationship with recorded price (Spearman correlation ≈ 0.41).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The relationship is not strong enough to treat size as a standalone explanation of price.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Genre and artist tier continue to show clear differences when looking at typical prices.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For valuation analysis, physical characteristics are therefore better treated as one part of a broader set of factors.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Global Art Market Analytics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2424"/>
                </a:solidFill>
                <a:latin typeface="Aptos Display"/>
              </a:defRPr>
            </a:pPr>
            <a:r>
              <a:t>Pricing changes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The dataset shows a noticeable peak around 2007, when median recorded price reached $24,000.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Prices changed in the years that followed, showing that historical price levels are not static.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The broader art market was also unusually strong around this period, followed by a correction during the 2008 financial crisis.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Time-aware benchmarks are therefore more useful than relying on a single historical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Global Art Market Analytics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2424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Artist tier and genre show substantial segmentation in typical recorded prices.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Country and continent provide useful market context, but comparisons should account for differences in sample size.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Estimate-to-recorded-price variance provides a simple way to monitor how market outcomes differ from expectations.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Artwork size is informative, but valuation is clearly a multi-factor problem.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Overall, the dashboard can be used as a starting point for segment benchmarking and deeper valuation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Global Art Market Analytics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2424"/>
                </a:solidFill>
                <a:latin typeface="Aptos Display"/>
              </a:defRPr>
            </a:pPr>
            <a:r>
              <a:t>Tools and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Python: data cleaning, category conversion, descriptive statistics and correlation analysis.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Power BI: KPI measures, visual analysis and dashboard design.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Main measures: artwork count, median recorded price, total recorded value, above-estimate percentage and median estimate ratio.</a:t>
            </a:r>
          </a:p>
          <a:p>
            <a:pPr>
              <a:spcAft>
                <a:spcPts val="1400"/>
              </a:spcAft>
              <a:defRPr sz="1700">
                <a:solidFill>
                  <a:srgbClr val="242424"/>
                </a:solidFill>
                <a:latin typeface="Aptos"/>
              </a:defRPr>
            </a:pPr>
            <a:r>
              <a:t>• The analysis is descriptive: the results show associations and patterns rather than proving causation.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  <a:r>
              <a:t>Global Art Market Analytics   |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